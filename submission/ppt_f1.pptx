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9" r:id="rId2"/>
    <p:sldId id="300" r:id="rId3"/>
    <p:sldId id="301" r:id="rId4"/>
    <p:sldId id="293" r:id="rId5"/>
    <p:sldId id="294" r:id="rId6"/>
    <p:sldId id="30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E7B6CA-1EFB-4E76-9242-4F4902D678B6}" type="doc">
      <dgm:prSet loTypeId="urn:microsoft.com/office/officeart/2005/8/layout/h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E46F3909-D577-421F-B4E6-CBD22005D794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Berlin Sans FB" panose="020E0602020502020306" pitchFamily="34" charset="0"/>
            </a:rPr>
            <a:t>Technical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>
              <a:solidFill>
                <a:schemeClr val="tx2"/>
              </a:solidFill>
              <a:latin typeface="Berlin Sans FB" panose="020E0602020502020306" pitchFamily="34" charset="0"/>
            </a:rPr>
            <a:t>feasibility</a:t>
          </a:r>
          <a:endParaRPr lang="en-US" dirty="0"/>
        </a:p>
      </dgm:t>
    </dgm:pt>
    <dgm:pt modelId="{6C1727E7-8F51-40C0-A2FB-64358EAA440C}" type="parTrans" cxnId="{FCC39B81-C9FC-458B-B9F3-59EE0EBAA76E}">
      <dgm:prSet/>
      <dgm:spPr/>
      <dgm:t>
        <a:bodyPr/>
        <a:lstStyle/>
        <a:p>
          <a:endParaRPr lang="en-US"/>
        </a:p>
      </dgm:t>
    </dgm:pt>
    <dgm:pt modelId="{43072880-AF84-4CF6-893B-CB2455BB7713}" type="sibTrans" cxnId="{FCC39B81-C9FC-458B-B9F3-59EE0EBAA76E}">
      <dgm:prSet/>
      <dgm:spPr/>
      <dgm:t>
        <a:bodyPr/>
        <a:lstStyle/>
        <a:p>
          <a:endParaRPr lang="en-US"/>
        </a:p>
      </dgm:t>
    </dgm:pt>
    <dgm:pt modelId="{3E177EA3-885B-4E79-AD4D-04DD6F867CA1}">
      <dgm:prSet phldrT="[Text]" phldr="0"/>
      <dgm:spPr/>
      <dgm:t>
        <a:bodyPr/>
        <a:lstStyle/>
        <a:p>
          <a:r>
            <a:rPr lang="en-US" dirty="0"/>
            <a:t>VALIDITY</a:t>
          </a:r>
        </a:p>
      </dgm:t>
    </dgm:pt>
    <dgm:pt modelId="{4540A7CA-8234-42F9-89A3-7EFC310BEC6A}" type="parTrans" cxnId="{CBEF27E7-EDDE-4072-AC27-C6B19EA6E0AA}">
      <dgm:prSet/>
      <dgm:spPr/>
      <dgm:t>
        <a:bodyPr/>
        <a:lstStyle/>
        <a:p>
          <a:endParaRPr lang="en-US"/>
        </a:p>
      </dgm:t>
    </dgm:pt>
    <dgm:pt modelId="{D607C688-DA36-4704-9EB2-4CCDB683CC05}" type="sibTrans" cxnId="{CBEF27E7-EDDE-4072-AC27-C6B19EA6E0AA}">
      <dgm:prSet/>
      <dgm:spPr/>
      <dgm:t>
        <a:bodyPr/>
        <a:lstStyle/>
        <a:p>
          <a:endParaRPr lang="en-US"/>
        </a:p>
      </dgm:t>
    </dgm:pt>
    <dgm:pt modelId="{533B97F5-D091-4509-AFB1-767B450F258C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Domain relevance – </a:t>
          </a:r>
          <a:r>
            <a:rPr lang="en-US" dirty="0">
              <a:ea typeface="Segoe UI Black" panose="020B0A02040204020203" pitchFamily="34" charset="0"/>
            </a:rPr>
            <a:t>supporting competency development , structured learning pathways that centralized to institutional training ecosystem.</a:t>
          </a:r>
          <a:endParaRPr lang="en-US" dirty="0"/>
        </a:p>
      </dgm:t>
    </dgm:pt>
    <dgm:pt modelId="{013C9AA5-63F8-4253-A88A-071AC26E2C5A}" type="parTrans" cxnId="{26E4868C-593D-4F8B-B615-2FC98B455C76}">
      <dgm:prSet/>
      <dgm:spPr/>
      <dgm:t>
        <a:bodyPr/>
        <a:lstStyle/>
        <a:p>
          <a:endParaRPr lang="en-US"/>
        </a:p>
      </dgm:t>
    </dgm:pt>
    <dgm:pt modelId="{9DE4F57F-BBE1-4BC8-96E2-975FB8DD32B9}" type="sibTrans" cxnId="{26E4868C-593D-4F8B-B615-2FC98B455C76}">
      <dgm:prSet/>
      <dgm:spPr/>
      <dgm:t>
        <a:bodyPr/>
        <a:lstStyle/>
        <a:p>
          <a:endParaRPr lang="en-US"/>
        </a:p>
      </dgm:t>
    </dgm:pt>
    <dgm:pt modelId="{411C9F8A-7A9F-4EAF-A3F1-BB2125E79536}">
      <dgm:prSet phldrT="[Text]" phldr="0"/>
      <dgm:spPr/>
      <dgm:t>
        <a:bodyPr/>
        <a:lstStyle/>
        <a:p>
          <a:r>
            <a:rPr lang="en-US" dirty="0"/>
            <a:t>CHALLENGES</a:t>
          </a:r>
        </a:p>
      </dgm:t>
    </dgm:pt>
    <dgm:pt modelId="{C871CDFC-8EC4-4566-B821-59F650CA3949}" type="parTrans" cxnId="{C0CAB044-C9A5-4009-9D8F-F40F73C8530D}">
      <dgm:prSet/>
      <dgm:spPr/>
      <dgm:t>
        <a:bodyPr/>
        <a:lstStyle/>
        <a:p>
          <a:endParaRPr lang="en-US"/>
        </a:p>
      </dgm:t>
    </dgm:pt>
    <dgm:pt modelId="{769FB1BC-952F-4A2A-962E-F71E44DCD7A0}" type="sibTrans" cxnId="{C0CAB044-C9A5-4009-9D8F-F40F73C8530D}">
      <dgm:prSet/>
      <dgm:spPr/>
      <dgm:t>
        <a:bodyPr/>
        <a:lstStyle/>
        <a:p>
          <a:endParaRPr lang="en-US"/>
        </a:p>
      </dgm:t>
    </dgm:pt>
    <dgm:pt modelId="{6460136C-FE41-4460-A3A5-7DBE0CAA4BB0}">
      <dgm:prSet phldrT="[Text]"/>
      <dgm:spPr/>
      <dgm:t>
        <a:bodyPr/>
        <a:lstStyle/>
        <a:p>
          <a:r>
            <a:rPr lang="en-US" b="1" dirty="0">
              <a:solidFill>
                <a:schemeClr val="tx2">
                  <a:lumMod val="75000"/>
                </a:schemeClr>
              </a:solidFill>
            </a:rPr>
            <a:t>Designing a scalable learning- </a:t>
          </a:r>
          <a:r>
            <a:rPr lang="en-US" b="0" dirty="0">
              <a:solidFill>
                <a:schemeClr val="tx1"/>
              </a:solidFill>
            </a:rPr>
            <a:t>where</a:t>
          </a:r>
          <a:r>
            <a:rPr lang="en-US" b="1" dirty="0">
              <a:solidFill>
                <a:schemeClr val="tx2">
                  <a:lumMod val="75000"/>
                </a:schemeClr>
              </a:solidFill>
            </a:rPr>
            <a:t> </a:t>
          </a:r>
          <a:r>
            <a:rPr lang="en-US" b="0" dirty="0">
              <a:solidFill>
                <a:schemeClr val="tx1"/>
              </a:solidFill>
            </a:rPr>
            <a:t>management</a:t>
          </a:r>
          <a:r>
            <a:rPr lang="en-US" dirty="0"/>
            <a:t> workflow is capable of handling course enrollment, assessments, and feedback within a clean modular structure.</a:t>
          </a:r>
        </a:p>
      </dgm:t>
    </dgm:pt>
    <dgm:pt modelId="{25005939-78B6-4450-BB03-0D4C41030A7C}" type="parTrans" cxnId="{0E48D987-1D26-4742-A2F5-615D8AFEC9FC}">
      <dgm:prSet/>
      <dgm:spPr/>
      <dgm:t>
        <a:bodyPr/>
        <a:lstStyle/>
        <a:p>
          <a:endParaRPr lang="en-US"/>
        </a:p>
      </dgm:t>
    </dgm:pt>
    <dgm:pt modelId="{6C67DFFC-4E09-48D9-B108-C28B3973A5F9}" type="sibTrans" cxnId="{0E48D987-1D26-4742-A2F5-615D8AFEC9FC}">
      <dgm:prSet/>
      <dgm:spPr/>
      <dgm:t>
        <a:bodyPr/>
        <a:lstStyle/>
        <a:p>
          <a:endParaRPr lang="en-US"/>
        </a:p>
      </dgm:t>
    </dgm:pt>
    <dgm:pt modelId="{6CEBAEA1-7095-4883-8B59-383D6E49C2A8}">
      <dgm:prSet phldrT="[Text]"/>
      <dgm:spPr/>
      <dgm:t>
        <a:bodyPr/>
        <a:lstStyle/>
        <a:p>
          <a:r>
            <a:rPr lang="en-US" b="1" dirty="0">
              <a:solidFill>
                <a:schemeClr val="tx2">
                  <a:lumMod val="75000"/>
                </a:schemeClr>
              </a:solidFill>
            </a:rPr>
            <a:t>Building data-driven analytical modules -</a:t>
          </a:r>
          <a:r>
            <a:rPr lang="en-US" dirty="0"/>
            <a:t> it transform raw training activity into meaningful intelligence, enabling measurable tracking of competency gaps and progression trends.</a:t>
          </a:r>
        </a:p>
      </dgm:t>
    </dgm:pt>
    <dgm:pt modelId="{869D8E68-1169-410A-A9F5-D609656807F2}" type="parTrans" cxnId="{DB0B64AE-D58F-4731-8850-85B777C7966C}">
      <dgm:prSet/>
      <dgm:spPr/>
      <dgm:t>
        <a:bodyPr/>
        <a:lstStyle/>
        <a:p>
          <a:endParaRPr lang="en-US"/>
        </a:p>
      </dgm:t>
    </dgm:pt>
    <dgm:pt modelId="{83BA47B9-7282-49BF-AF2D-192361B08F95}" type="sibTrans" cxnId="{DB0B64AE-D58F-4731-8850-85B777C7966C}">
      <dgm:prSet/>
      <dgm:spPr/>
      <dgm:t>
        <a:bodyPr/>
        <a:lstStyle/>
        <a:p>
          <a:endParaRPr lang="en-US"/>
        </a:p>
      </dgm:t>
    </dgm:pt>
    <dgm:pt modelId="{9E047A65-3D48-403A-9621-3946C6DAE715}">
      <dgm:prSet/>
      <dgm:spPr/>
      <dgm:t>
        <a:bodyPr/>
        <a:lstStyle/>
        <a:p>
          <a:endParaRPr lang="en-US" dirty="0">
            <a:ea typeface="Segoe UI Black" panose="020B0A02040204020203" pitchFamily="34" charset="0"/>
          </a:endParaRPr>
        </a:p>
      </dgm:t>
    </dgm:pt>
    <dgm:pt modelId="{DF431CBE-9B2E-4B69-9016-DB7A700548A2}" type="parTrans" cxnId="{EC1510DF-1EB8-43B8-A7CB-78C559335ECB}">
      <dgm:prSet/>
      <dgm:spPr/>
      <dgm:t>
        <a:bodyPr/>
        <a:lstStyle/>
        <a:p>
          <a:endParaRPr lang="en-US"/>
        </a:p>
      </dgm:t>
    </dgm:pt>
    <dgm:pt modelId="{6E44EE31-C6C1-4358-A98D-2A283A8F8DEE}" type="sibTrans" cxnId="{EC1510DF-1EB8-43B8-A7CB-78C559335ECB}">
      <dgm:prSet/>
      <dgm:spPr/>
      <dgm:t>
        <a:bodyPr/>
        <a:lstStyle/>
        <a:p>
          <a:endParaRPr lang="en-US"/>
        </a:p>
      </dgm:t>
    </dgm:pt>
    <dgm:pt modelId="{F95815BF-BF9B-4285-967A-BF26A83F23B8}">
      <dgm:prSet/>
      <dgm:spPr/>
      <dgm:t>
        <a:bodyPr/>
        <a:lstStyle/>
        <a:p>
          <a:r>
            <a:rPr lang="en-US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2. Functional appropriateness – </a:t>
          </a:r>
          <a:r>
            <a:rPr lang="en-US">
              <a:ea typeface="Segoe UI Black" panose="020B0A02040204020203" pitchFamily="34" charset="0"/>
            </a:rPr>
            <a:t>a component to sustain the real-world utility of platform such as trainer led course delivery, trainee profiling.</a:t>
          </a:r>
          <a:endParaRPr lang="en-US" dirty="0">
            <a:ea typeface="Segoe UI Black" panose="020B0A02040204020203" pitchFamily="34" charset="0"/>
          </a:endParaRPr>
        </a:p>
      </dgm:t>
    </dgm:pt>
    <dgm:pt modelId="{B54E1CE5-FAFD-4729-A7A4-EE19436E0C4C}" type="parTrans" cxnId="{5A21FEA4-4D7F-49A7-B570-17420A922C8E}">
      <dgm:prSet/>
      <dgm:spPr/>
      <dgm:t>
        <a:bodyPr/>
        <a:lstStyle/>
        <a:p>
          <a:endParaRPr lang="en-US"/>
        </a:p>
      </dgm:t>
    </dgm:pt>
    <dgm:pt modelId="{3C09D265-7D14-422F-82D7-1B7A31C3435A}" type="sibTrans" cxnId="{5A21FEA4-4D7F-49A7-B570-17420A922C8E}">
      <dgm:prSet/>
      <dgm:spPr/>
      <dgm:t>
        <a:bodyPr/>
        <a:lstStyle/>
        <a:p>
          <a:endParaRPr lang="en-US"/>
        </a:p>
      </dgm:t>
    </dgm:pt>
    <dgm:pt modelId="{7400FAF4-8F09-4FE7-B3B0-5B67A6C56EAC}">
      <dgm:prSet/>
      <dgm:spPr/>
      <dgm:t>
        <a:bodyPr/>
        <a:lstStyle/>
        <a:p>
          <a:endParaRPr lang="en-US" dirty="0">
            <a:ea typeface="Segoe UI Black" panose="020B0A02040204020203" pitchFamily="34" charset="0"/>
          </a:endParaRPr>
        </a:p>
      </dgm:t>
    </dgm:pt>
    <dgm:pt modelId="{003983D6-5D85-4742-8327-250EE1744F2F}" type="parTrans" cxnId="{F7580212-B11A-4732-9E48-23FDCFC63CBE}">
      <dgm:prSet/>
      <dgm:spPr/>
      <dgm:t>
        <a:bodyPr/>
        <a:lstStyle/>
        <a:p>
          <a:endParaRPr lang="en-US"/>
        </a:p>
      </dgm:t>
    </dgm:pt>
    <dgm:pt modelId="{8BFB2783-54A8-418B-8445-FDFAE3823873}" type="sibTrans" cxnId="{F7580212-B11A-4732-9E48-23FDCFC63CBE}">
      <dgm:prSet/>
      <dgm:spPr/>
      <dgm:t>
        <a:bodyPr/>
        <a:lstStyle/>
        <a:p>
          <a:endParaRPr lang="en-US"/>
        </a:p>
      </dgm:t>
    </dgm:pt>
    <dgm:pt modelId="{89968345-4F68-4047-B58E-CA599488C077}">
      <dgm:prSet/>
      <dgm:spPr/>
      <dgm:t>
        <a:bodyPr/>
        <a:lstStyle/>
        <a:p>
          <a:r>
            <a:rPr lang="en-US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3. Systematic coherence – </a:t>
          </a:r>
          <a:r>
            <a:rPr lang="en-US">
              <a:ea typeface="Segoe UI Black" panose="020B0A02040204020203" pitchFamily="34" charset="0"/>
            </a:rPr>
            <a:t>maintaining internal consistency by connecting user authentication, role-specific workflow into one integrated learning framework.</a:t>
          </a:r>
          <a:endParaRPr lang="en-US" dirty="0">
            <a:ea typeface="Segoe UI Black" panose="020B0A02040204020203" pitchFamily="34" charset="0"/>
          </a:endParaRPr>
        </a:p>
      </dgm:t>
    </dgm:pt>
    <dgm:pt modelId="{EC2B7E9F-66AC-44F7-9002-736285B1C75D}" type="parTrans" cxnId="{C429FD95-382C-42FD-AE4F-52F4519DE3F6}">
      <dgm:prSet/>
      <dgm:spPr/>
      <dgm:t>
        <a:bodyPr/>
        <a:lstStyle/>
        <a:p>
          <a:endParaRPr lang="en-US"/>
        </a:p>
      </dgm:t>
    </dgm:pt>
    <dgm:pt modelId="{7AF9E6DC-49A3-4724-B610-272B45DF5404}" type="sibTrans" cxnId="{C429FD95-382C-42FD-AE4F-52F4519DE3F6}">
      <dgm:prSet/>
      <dgm:spPr/>
      <dgm:t>
        <a:bodyPr/>
        <a:lstStyle/>
        <a:p>
          <a:endParaRPr lang="en-US"/>
        </a:p>
      </dgm:t>
    </dgm:pt>
    <dgm:pt modelId="{430B495A-7516-462E-834E-B3D397ED3715}">
      <dgm:prSet/>
      <dgm:spPr/>
      <dgm:t>
        <a:bodyPr/>
        <a:lstStyle/>
        <a:p>
          <a:endParaRPr lang="en-US" dirty="0">
            <a:ea typeface="Segoe UI Black" panose="020B0A02040204020203" pitchFamily="34" charset="0"/>
          </a:endParaRPr>
        </a:p>
      </dgm:t>
    </dgm:pt>
    <dgm:pt modelId="{AB683F6C-C74D-49D1-A6B6-73E78490A1C9}" type="parTrans" cxnId="{BC497F84-A132-4F2E-8A5D-713E7B4C1877}">
      <dgm:prSet/>
      <dgm:spPr/>
      <dgm:t>
        <a:bodyPr/>
        <a:lstStyle/>
        <a:p>
          <a:endParaRPr lang="en-US"/>
        </a:p>
      </dgm:t>
    </dgm:pt>
    <dgm:pt modelId="{FBA7C995-EA7E-4BDE-9E3E-59889D1D6771}" type="sibTrans" cxnId="{BC497F84-A132-4F2E-8A5D-713E7B4C1877}">
      <dgm:prSet/>
      <dgm:spPr/>
      <dgm:t>
        <a:bodyPr/>
        <a:lstStyle/>
        <a:p>
          <a:endParaRPr lang="en-US"/>
        </a:p>
      </dgm:t>
    </dgm:pt>
    <dgm:pt modelId="{E4C29EB6-D1B7-4786-B972-0C83A817E001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4. Practical acceptability – </a:t>
          </a:r>
          <a:r>
            <a:rPr lang="en-US" dirty="0">
              <a:ea typeface="Segoe UI Black" panose="020B0A02040204020203" pitchFamily="34" charset="0"/>
            </a:rPr>
            <a:t>it addresses a genuine organizational need and demonstrate a functional prototype with measurable outcomes.</a:t>
          </a:r>
          <a:endParaRPr lang="en-US" dirty="0">
            <a:latin typeface="Berlin Sans FB" panose="020E0602020502020306" pitchFamily="34" charset="0"/>
            <a:ea typeface="Segoe UI Black" panose="020B0A02040204020203" pitchFamily="34" charset="0"/>
          </a:endParaRPr>
        </a:p>
      </dgm:t>
    </dgm:pt>
    <dgm:pt modelId="{67A79EB2-B6A5-4EAB-BE2A-5A44BAD7ED1C}" type="parTrans" cxnId="{D07C13BE-81F4-433F-A738-E39785AAF0E0}">
      <dgm:prSet/>
      <dgm:spPr/>
      <dgm:t>
        <a:bodyPr/>
        <a:lstStyle/>
        <a:p>
          <a:endParaRPr lang="en-US"/>
        </a:p>
      </dgm:t>
    </dgm:pt>
    <dgm:pt modelId="{1FEF4DF7-7948-43E6-8C33-9B16BF2E28EF}" type="sibTrans" cxnId="{D07C13BE-81F4-433F-A738-E39785AAF0E0}">
      <dgm:prSet/>
      <dgm:spPr/>
      <dgm:t>
        <a:bodyPr/>
        <a:lstStyle/>
        <a:p>
          <a:endParaRPr lang="en-US"/>
        </a:p>
      </dgm:t>
    </dgm:pt>
    <dgm:pt modelId="{97882E03-3FAB-4436-A902-734DDB03901B}">
      <dgm:prSet/>
      <dgm:spPr/>
      <dgm:t>
        <a:bodyPr/>
        <a:lstStyle/>
        <a:p>
          <a:r>
            <a:rPr lang="en-US"/>
            <a:t>Competency mapping- Framework to foster purposeful growth and bridging skill lacunae.</a:t>
          </a:r>
          <a:endParaRPr lang="en-US" dirty="0"/>
        </a:p>
      </dgm:t>
    </dgm:pt>
    <dgm:pt modelId="{70009587-C143-451E-9A37-411552A67BD3}" type="parTrans" cxnId="{08A7EAFC-F031-48A2-ADE6-0A54C2183042}">
      <dgm:prSet/>
      <dgm:spPr/>
      <dgm:t>
        <a:bodyPr/>
        <a:lstStyle/>
        <a:p>
          <a:endParaRPr lang="en-US"/>
        </a:p>
      </dgm:t>
    </dgm:pt>
    <dgm:pt modelId="{48ADC5ED-9874-49AF-8C7C-75CE8CBAA0C4}" type="sibTrans" cxnId="{08A7EAFC-F031-48A2-ADE6-0A54C2183042}">
      <dgm:prSet/>
      <dgm:spPr/>
      <dgm:t>
        <a:bodyPr/>
        <a:lstStyle/>
        <a:p>
          <a:endParaRPr lang="en-US"/>
        </a:p>
      </dgm:t>
    </dgm:pt>
    <dgm:pt modelId="{95F0E0AE-E93C-427D-BF53-F95833EF20B4}">
      <dgm:prSet/>
      <dgm:spPr/>
      <dgm:t>
        <a:bodyPr/>
        <a:lstStyle/>
        <a:p>
          <a:r>
            <a:rPr lang="en-US" dirty="0"/>
            <a:t>Continuous capacity building loop - standard web-based learning with course enrollment , assessments and content dissemination.</a:t>
          </a:r>
        </a:p>
      </dgm:t>
    </dgm:pt>
    <dgm:pt modelId="{C906B832-E714-46C1-B4E6-DC83429137F7}" type="parTrans" cxnId="{5FFC7D05-D48B-4CD1-BB6C-334DFC3A2A48}">
      <dgm:prSet/>
      <dgm:spPr/>
      <dgm:t>
        <a:bodyPr/>
        <a:lstStyle/>
        <a:p>
          <a:endParaRPr lang="en-US"/>
        </a:p>
      </dgm:t>
    </dgm:pt>
    <dgm:pt modelId="{48D8CFA6-3A64-4E59-8E17-527B62E8B895}" type="sibTrans" cxnId="{5FFC7D05-D48B-4CD1-BB6C-334DFC3A2A48}">
      <dgm:prSet/>
      <dgm:spPr/>
      <dgm:t>
        <a:bodyPr/>
        <a:lstStyle/>
        <a:p>
          <a:endParaRPr lang="en-US"/>
        </a:p>
      </dgm:t>
    </dgm:pt>
    <dgm:pt modelId="{736472E0-9591-4933-95DE-56492793E8DB}">
      <dgm:prSet/>
      <dgm:spPr/>
      <dgm:t>
        <a:bodyPr/>
        <a:lstStyle/>
        <a:p>
          <a:r>
            <a:rPr lang="en-US">
              <a:solidFill>
                <a:schemeClr val="tx2"/>
              </a:solidFill>
            </a:rPr>
            <a:t>2</a:t>
          </a:r>
          <a:r>
            <a:rPr lang="en-US">
              <a:solidFill>
                <a:schemeClr val="tx2"/>
              </a:solidFill>
              <a:latin typeface="Berlin Sans FB" panose="020E0602020502020306" pitchFamily="34" charset="0"/>
            </a:rPr>
            <a:t>. Operational feasibility</a:t>
          </a:r>
          <a:endParaRPr lang="en-US" dirty="0">
            <a:solidFill>
              <a:schemeClr val="tx2"/>
            </a:solidFill>
            <a:latin typeface="Berlin Sans FB" panose="020E0602020502020306" pitchFamily="34" charset="0"/>
          </a:endParaRPr>
        </a:p>
      </dgm:t>
    </dgm:pt>
    <dgm:pt modelId="{42DFF17B-EACD-4792-8ED2-F0FCD97A7461}" type="parTrans" cxnId="{3CCC56D1-8EA0-4D30-9100-9F19F27BC448}">
      <dgm:prSet/>
      <dgm:spPr/>
      <dgm:t>
        <a:bodyPr/>
        <a:lstStyle/>
        <a:p>
          <a:endParaRPr lang="en-US"/>
        </a:p>
      </dgm:t>
    </dgm:pt>
    <dgm:pt modelId="{647CDEF4-7DC5-4A10-9D13-9B4EE7A1F3BF}" type="sibTrans" cxnId="{3CCC56D1-8EA0-4D30-9100-9F19F27BC448}">
      <dgm:prSet/>
      <dgm:spPr/>
      <dgm:t>
        <a:bodyPr/>
        <a:lstStyle/>
        <a:p>
          <a:endParaRPr lang="en-US"/>
        </a:p>
      </dgm:t>
    </dgm:pt>
    <dgm:pt modelId="{5DBA736B-9517-40E7-86D2-0517514574D9}">
      <dgm:prSet/>
      <dgm:spPr/>
      <dgm:t>
        <a:bodyPr/>
        <a:lstStyle/>
        <a:p>
          <a:r>
            <a:rPr lang="en-US"/>
            <a:t>Competency gap calculation to evaluate current proficiency against expected role standards.</a:t>
          </a:r>
          <a:endParaRPr lang="en-US" dirty="0"/>
        </a:p>
      </dgm:t>
    </dgm:pt>
    <dgm:pt modelId="{5F7CCB9E-7589-480D-A797-CC0BCA929778}" type="parTrans" cxnId="{0151B8FE-E026-41B5-881C-FFF2FAF1E780}">
      <dgm:prSet/>
      <dgm:spPr/>
      <dgm:t>
        <a:bodyPr/>
        <a:lstStyle/>
        <a:p>
          <a:endParaRPr lang="en-US"/>
        </a:p>
      </dgm:t>
    </dgm:pt>
    <dgm:pt modelId="{716E6099-E354-4936-89E2-DBA65B960CA8}" type="sibTrans" cxnId="{0151B8FE-E026-41B5-881C-FFF2FAF1E780}">
      <dgm:prSet/>
      <dgm:spPr/>
      <dgm:t>
        <a:bodyPr/>
        <a:lstStyle/>
        <a:p>
          <a:endParaRPr lang="en-US"/>
        </a:p>
      </dgm:t>
    </dgm:pt>
    <dgm:pt modelId="{97E3F817-7FAE-46FB-B978-64DB095A7DEF}">
      <dgm:prSet/>
      <dgm:spPr/>
      <dgm:t>
        <a:bodyPr/>
        <a:lstStyle/>
        <a:p>
          <a:r>
            <a:rPr lang="en-US"/>
            <a:t>IMD capacity intelligence platform to identify learning needs and progression patterns with clarity.</a:t>
          </a:r>
          <a:endParaRPr lang="en-US" dirty="0"/>
        </a:p>
      </dgm:t>
    </dgm:pt>
    <dgm:pt modelId="{78AA35E2-5A27-4A4F-BC26-C64704551AD4}" type="parTrans" cxnId="{A1B5D55B-0B37-44B0-BB6C-62FE60DDF106}">
      <dgm:prSet/>
      <dgm:spPr/>
      <dgm:t>
        <a:bodyPr/>
        <a:lstStyle/>
        <a:p>
          <a:endParaRPr lang="en-US"/>
        </a:p>
      </dgm:t>
    </dgm:pt>
    <dgm:pt modelId="{65E6C8AB-C787-45B7-B8E3-E51D71CF2C05}" type="sibTrans" cxnId="{A1B5D55B-0B37-44B0-BB6C-62FE60DDF106}">
      <dgm:prSet/>
      <dgm:spPr/>
      <dgm:t>
        <a:bodyPr/>
        <a:lstStyle/>
        <a:p>
          <a:endParaRPr lang="en-US"/>
        </a:p>
      </dgm:t>
    </dgm:pt>
    <dgm:pt modelId="{AE73C31B-7D4C-4718-A079-29373EB1B5E1}">
      <dgm:prSet/>
      <dgm:spPr/>
      <dgm:t>
        <a:bodyPr/>
        <a:lstStyle/>
        <a:p>
          <a:r>
            <a:rPr lang="en-US">
              <a:solidFill>
                <a:schemeClr val="tx2"/>
              </a:solidFill>
              <a:latin typeface="Berlin Sans FB" panose="020E0602020502020306" pitchFamily="34" charset="0"/>
            </a:rPr>
            <a:t>3. Legal feasibility</a:t>
          </a:r>
          <a:endParaRPr lang="en-US" dirty="0">
            <a:solidFill>
              <a:schemeClr val="tx2"/>
            </a:solidFill>
            <a:latin typeface="Berlin Sans FB" panose="020E0602020502020306" pitchFamily="34" charset="0"/>
          </a:endParaRPr>
        </a:p>
      </dgm:t>
    </dgm:pt>
    <dgm:pt modelId="{CC5AEDDC-AA71-46FD-890A-6D983F89284E}" type="parTrans" cxnId="{4667C61D-8A32-4414-BC6E-A66700F2D392}">
      <dgm:prSet/>
      <dgm:spPr/>
      <dgm:t>
        <a:bodyPr/>
        <a:lstStyle/>
        <a:p>
          <a:endParaRPr lang="en-US"/>
        </a:p>
      </dgm:t>
    </dgm:pt>
    <dgm:pt modelId="{5C2976C2-75B0-4B59-9230-F5B36C7EB88F}" type="sibTrans" cxnId="{4667C61D-8A32-4414-BC6E-A66700F2D392}">
      <dgm:prSet/>
      <dgm:spPr/>
      <dgm:t>
        <a:bodyPr/>
        <a:lstStyle/>
        <a:p>
          <a:endParaRPr lang="en-US"/>
        </a:p>
      </dgm:t>
    </dgm:pt>
    <dgm:pt modelId="{2C3DBC75-663E-4355-A94B-A9FDE1CB4A53}">
      <dgm:prSet/>
      <dgm:spPr/>
      <dgm:t>
        <a:bodyPr/>
        <a:lstStyle/>
        <a:p>
          <a:r>
            <a:rPr lang="en-US" dirty="0"/>
            <a:t>A secure role authentication for trainee, trainer, and admin</a:t>
          </a:r>
        </a:p>
      </dgm:t>
    </dgm:pt>
    <dgm:pt modelId="{A86E3955-DB23-49D6-9A0A-D57CF9310799}" type="parTrans" cxnId="{5BEE3C89-BD16-4016-9B2E-B4E963333864}">
      <dgm:prSet/>
      <dgm:spPr/>
      <dgm:t>
        <a:bodyPr/>
        <a:lstStyle/>
        <a:p>
          <a:endParaRPr lang="en-US"/>
        </a:p>
      </dgm:t>
    </dgm:pt>
    <dgm:pt modelId="{A8AD6D73-2C5C-4EFE-B3B6-8AEE5D057815}" type="sibTrans" cxnId="{5BEE3C89-BD16-4016-9B2E-B4E963333864}">
      <dgm:prSet/>
      <dgm:spPr/>
      <dgm:t>
        <a:bodyPr/>
        <a:lstStyle/>
        <a:p>
          <a:endParaRPr lang="en-US"/>
        </a:p>
      </dgm:t>
    </dgm:pt>
    <dgm:pt modelId="{E3597F85-97BA-4389-AF71-AB236A520E16}">
      <dgm:prSet phldrT="[Text]" phldr="0"/>
      <dgm:spPr/>
      <dgm:t>
        <a:bodyPr/>
        <a:lstStyle/>
        <a:p>
          <a:r>
            <a:rPr lang="en-US" dirty="0"/>
            <a:t>FEASIBILITY</a:t>
          </a:r>
        </a:p>
      </dgm:t>
    </dgm:pt>
    <dgm:pt modelId="{9630E597-F22D-48AB-A0A1-B5C51BD254EB}" type="sibTrans" cxnId="{74B3FA0D-084B-432B-9E4E-3C3D6B4757EE}">
      <dgm:prSet/>
      <dgm:spPr/>
      <dgm:t>
        <a:bodyPr/>
        <a:lstStyle/>
        <a:p>
          <a:endParaRPr lang="en-US"/>
        </a:p>
      </dgm:t>
    </dgm:pt>
    <dgm:pt modelId="{6D58EAB3-5897-4197-930B-9753ADA07751}" type="parTrans" cxnId="{74B3FA0D-084B-432B-9E4E-3C3D6B4757EE}">
      <dgm:prSet/>
      <dgm:spPr/>
      <dgm:t>
        <a:bodyPr/>
        <a:lstStyle/>
        <a:p>
          <a:endParaRPr lang="en-US"/>
        </a:p>
      </dgm:t>
    </dgm:pt>
    <dgm:pt modelId="{53E8C463-DDE6-4A6E-A139-991DAE921C54}">
      <dgm:prSet phldrT="[Text]"/>
      <dgm:spPr/>
      <dgm:t>
        <a:bodyPr/>
        <a:lstStyle/>
        <a:p>
          <a:r>
            <a:rPr lang="en-US" b="1" dirty="0">
              <a:solidFill>
                <a:schemeClr val="tx2">
                  <a:lumMod val="75000"/>
                </a:schemeClr>
              </a:solidFill>
            </a:rPr>
            <a:t>Competency mapping – </a:t>
          </a:r>
          <a:r>
            <a:rPr lang="en-US" b="0" dirty="0">
              <a:solidFill>
                <a:schemeClr val="tx1"/>
              </a:solidFill>
            </a:rPr>
            <a:t>it’s used </a:t>
          </a:r>
          <a:r>
            <a:rPr lang="en-US" dirty="0"/>
            <a:t>as an intelligent discovery layer that matches subject requirements or performance dashboard with the most suitable trainer, from the trainer profile.</a:t>
          </a:r>
        </a:p>
      </dgm:t>
    </dgm:pt>
    <dgm:pt modelId="{CA59C93A-3D8C-4D1D-BF66-1DDBAA5F10EA}" type="parTrans" cxnId="{3CEC1F68-8C3F-4CC6-A851-48EF11214B15}">
      <dgm:prSet/>
      <dgm:spPr/>
      <dgm:t>
        <a:bodyPr/>
        <a:lstStyle/>
        <a:p>
          <a:endParaRPr lang="en-US"/>
        </a:p>
      </dgm:t>
    </dgm:pt>
    <dgm:pt modelId="{4C028338-352A-4F1B-91C5-422A8BE960DA}" type="sibTrans" cxnId="{3CEC1F68-8C3F-4CC6-A851-48EF11214B15}">
      <dgm:prSet/>
      <dgm:spPr/>
      <dgm:t>
        <a:bodyPr/>
        <a:lstStyle/>
        <a:p>
          <a:endParaRPr lang="en-US"/>
        </a:p>
      </dgm:t>
    </dgm:pt>
    <dgm:pt modelId="{8240684F-509A-4DF8-B68F-30F6406B35B3}" type="pres">
      <dgm:prSet presAssocID="{E2E7B6CA-1EFB-4E76-9242-4F4902D678B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D6B4A9-4BDF-4192-8634-763ED4E576B1}" type="pres">
      <dgm:prSet presAssocID="{E3597F85-97BA-4389-AF71-AB236A520E16}" presName="composite" presStyleCnt="0"/>
      <dgm:spPr/>
    </dgm:pt>
    <dgm:pt modelId="{4C773822-966D-4294-A826-628AF708B67F}" type="pres">
      <dgm:prSet presAssocID="{E3597F85-97BA-4389-AF71-AB236A520E1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B79785-D9B5-49C3-AF26-69847370F375}" type="pres">
      <dgm:prSet presAssocID="{E3597F85-97BA-4389-AF71-AB236A520E16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75EAAB-9545-4FCE-A495-67A990112219}" type="pres">
      <dgm:prSet presAssocID="{9630E597-F22D-48AB-A0A1-B5C51BD254EB}" presName="space" presStyleCnt="0"/>
      <dgm:spPr/>
    </dgm:pt>
    <dgm:pt modelId="{9CEEB19B-AEE8-4385-AF0E-EC44AAA85AFB}" type="pres">
      <dgm:prSet presAssocID="{3E177EA3-885B-4E79-AD4D-04DD6F867CA1}" presName="composite" presStyleCnt="0"/>
      <dgm:spPr/>
    </dgm:pt>
    <dgm:pt modelId="{A9B6747D-EF8D-45D8-86FB-98D685D1A274}" type="pres">
      <dgm:prSet presAssocID="{3E177EA3-885B-4E79-AD4D-04DD6F867CA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85B3E4-8E06-4928-ACC4-0D93A7A46323}" type="pres">
      <dgm:prSet presAssocID="{3E177EA3-885B-4E79-AD4D-04DD6F867CA1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22645F-F9FE-4919-96BA-858405316C0C}" type="pres">
      <dgm:prSet presAssocID="{D607C688-DA36-4704-9EB2-4CCDB683CC05}" presName="space" presStyleCnt="0"/>
      <dgm:spPr/>
    </dgm:pt>
    <dgm:pt modelId="{1E52583B-C857-4BA1-AC0A-58566F281F1C}" type="pres">
      <dgm:prSet presAssocID="{411C9F8A-7A9F-4EAF-A3F1-BB2125E79536}" presName="composite" presStyleCnt="0"/>
      <dgm:spPr/>
    </dgm:pt>
    <dgm:pt modelId="{E02FB674-53ED-45F4-95A4-4531CE5E9EFB}" type="pres">
      <dgm:prSet presAssocID="{411C9F8A-7A9F-4EAF-A3F1-BB2125E795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8B224C-D8E9-45D9-AC57-FE5067BCC4DD}" type="pres">
      <dgm:prSet presAssocID="{411C9F8A-7A9F-4EAF-A3F1-BB2125E79536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FC7D05-D48B-4CD1-BB6C-334DFC3A2A48}" srcId="{E46F3909-D577-421F-B4E6-CBD22005D794}" destId="{95F0E0AE-E93C-427D-BF53-F95833EF20B4}" srcOrd="1" destOrd="0" parTransId="{C906B832-E714-46C1-B4E6-DC83429137F7}" sibTransId="{48D8CFA6-3A64-4E59-8E17-527B62E8B895}"/>
    <dgm:cxn modelId="{5A21FEA4-4D7F-49A7-B570-17420A922C8E}" srcId="{3E177EA3-885B-4E79-AD4D-04DD6F867CA1}" destId="{F95815BF-BF9B-4285-967A-BF26A83F23B8}" srcOrd="1" destOrd="0" parTransId="{B54E1CE5-FAFD-4729-A7A4-EE19436E0C4C}" sibTransId="{3C09D265-7D14-422F-82D7-1B7A31C3435A}"/>
    <dgm:cxn modelId="{89482B4B-B60F-4EED-B73B-14CE650DACF2}" type="presOf" srcId="{6CEBAEA1-7095-4883-8B59-383D6E49C2A8}" destId="{798B224C-D8E9-45D9-AC57-FE5067BCC4DD}" srcOrd="0" destOrd="1" presId="urn:microsoft.com/office/officeart/2005/8/layout/hList1"/>
    <dgm:cxn modelId="{F2BF07D9-650C-4791-97E5-E352438A3B30}" type="presOf" srcId="{7400FAF4-8F09-4FE7-B3B0-5B67A6C56EAC}" destId="{6885B3E4-8E06-4928-ACC4-0D93A7A46323}" srcOrd="0" destOrd="3" presId="urn:microsoft.com/office/officeart/2005/8/layout/hList1"/>
    <dgm:cxn modelId="{D90BA63B-27D8-49BE-B3C0-41B68D6F18C1}" type="presOf" srcId="{E4C29EB6-D1B7-4786-B972-0C83A817E001}" destId="{6885B3E4-8E06-4928-ACC4-0D93A7A46323}" srcOrd="0" destOrd="6" presId="urn:microsoft.com/office/officeart/2005/8/layout/hList1"/>
    <dgm:cxn modelId="{7783C73C-829D-418F-8798-0B052E95C2EF}" type="presOf" srcId="{89968345-4F68-4047-B58E-CA599488C077}" destId="{6885B3E4-8E06-4928-ACC4-0D93A7A46323}" srcOrd="0" destOrd="4" presId="urn:microsoft.com/office/officeart/2005/8/layout/hList1"/>
    <dgm:cxn modelId="{7C4841AC-D3BD-479F-B0AE-A490B42E3A2A}" type="presOf" srcId="{5DBA736B-9517-40E7-86D2-0517514574D9}" destId="{F3B79785-D9B5-49C3-AF26-69847370F375}" srcOrd="0" destOrd="4" presId="urn:microsoft.com/office/officeart/2005/8/layout/hList1"/>
    <dgm:cxn modelId="{45FB81D9-371C-4BFD-8907-706ADEB09DB0}" type="presOf" srcId="{2C3DBC75-663E-4355-A94B-A9FDE1CB4A53}" destId="{F3B79785-D9B5-49C3-AF26-69847370F375}" srcOrd="0" destOrd="7" presId="urn:microsoft.com/office/officeart/2005/8/layout/hList1"/>
    <dgm:cxn modelId="{C429FD95-382C-42FD-AE4F-52F4519DE3F6}" srcId="{3E177EA3-885B-4E79-AD4D-04DD6F867CA1}" destId="{89968345-4F68-4047-B58E-CA599488C077}" srcOrd="3" destOrd="0" parTransId="{EC2B7E9F-66AC-44F7-9002-736285B1C75D}" sibTransId="{7AF9E6DC-49A3-4724-B610-272B45DF5404}"/>
    <dgm:cxn modelId="{EB0C788F-67E5-4509-9032-E3996B0753D5}" type="presOf" srcId="{736472E0-9591-4933-95DE-56492793E8DB}" destId="{F3B79785-D9B5-49C3-AF26-69847370F375}" srcOrd="0" destOrd="3" presId="urn:microsoft.com/office/officeart/2005/8/layout/hList1"/>
    <dgm:cxn modelId="{3CEC1F68-8C3F-4CC6-A851-48EF11214B15}" srcId="{411C9F8A-7A9F-4EAF-A3F1-BB2125E79536}" destId="{53E8C463-DDE6-4A6E-A139-991DAE921C54}" srcOrd="2" destOrd="0" parTransId="{CA59C93A-3D8C-4D1D-BF66-1DDBAA5F10EA}" sibTransId="{4C028338-352A-4F1B-91C5-422A8BE960DA}"/>
    <dgm:cxn modelId="{309A47B4-314C-4098-8614-D394DE36BEEE}" type="presOf" srcId="{E2E7B6CA-1EFB-4E76-9242-4F4902D678B6}" destId="{8240684F-509A-4DF8-B68F-30F6406B35B3}" srcOrd="0" destOrd="0" presId="urn:microsoft.com/office/officeart/2005/8/layout/hList1"/>
    <dgm:cxn modelId="{0151B8FE-E026-41B5-881C-FFF2FAF1E780}" srcId="{736472E0-9591-4933-95DE-56492793E8DB}" destId="{5DBA736B-9517-40E7-86D2-0517514574D9}" srcOrd="0" destOrd="0" parTransId="{5F7CCB9E-7589-480D-A797-CC0BCA929778}" sibTransId="{716E6099-E354-4936-89E2-DBA65B960CA8}"/>
    <dgm:cxn modelId="{D2A1C149-FA28-454D-A3EE-4726641C2A94}" type="presOf" srcId="{97E3F817-7FAE-46FB-B978-64DB095A7DEF}" destId="{F3B79785-D9B5-49C3-AF26-69847370F375}" srcOrd="0" destOrd="5" presId="urn:microsoft.com/office/officeart/2005/8/layout/hList1"/>
    <dgm:cxn modelId="{D07C13BE-81F4-433F-A738-E39785AAF0E0}" srcId="{3E177EA3-885B-4E79-AD4D-04DD6F867CA1}" destId="{E4C29EB6-D1B7-4786-B972-0C83A817E001}" srcOrd="5" destOrd="0" parTransId="{67A79EB2-B6A5-4EAB-BE2A-5A44BAD7ED1C}" sibTransId="{1FEF4DF7-7948-43E6-8C33-9B16BF2E28EF}"/>
    <dgm:cxn modelId="{DB0B64AE-D58F-4731-8850-85B777C7966C}" srcId="{411C9F8A-7A9F-4EAF-A3F1-BB2125E79536}" destId="{6CEBAEA1-7095-4883-8B59-383D6E49C2A8}" srcOrd="1" destOrd="0" parTransId="{869D8E68-1169-410A-A9F5-D609656807F2}" sibTransId="{83BA47B9-7282-49BF-AF2D-192361B08F95}"/>
    <dgm:cxn modelId="{3C6DA1A3-6E8C-4D48-B2A8-A461BC15926B}" type="presOf" srcId="{F95815BF-BF9B-4285-967A-BF26A83F23B8}" destId="{6885B3E4-8E06-4928-ACC4-0D93A7A46323}" srcOrd="0" destOrd="2" presId="urn:microsoft.com/office/officeart/2005/8/layout/hList1"/>
    <dgm:cxn modelId="{AF42D0C0-04DA-43E2-8B31-38CF0BF12443}" type="presOf" srcId="{430B495A-7516-462E-834E-B3D397ED3715}" destId="{6885B3E4-8E06-4928-ACC4-0D93A7A46323}" srcOrd="0" destOrd="5" presId="urn:microsoft.com/office/officeart/2005/8/layout/hList1"/>
    <dgm:cxn modelId="{BC497F84-A132-4F2E-8A5D-713E7B4C1877}" srcId="{3E177EA3-885B-4E79-AD4D-04DD6F867CA1}" destId="{430B495A-7516-462E-834E-B3D397ED3715}" srcOrd="4" destOrd="0" parTransId="{AB683F6C-C74D-49D1-A6B6-73E78490A1C9}" sibTransId="{FBA7C995-EA7E-4BDE-9E3E-59889D1D6771}"/>
    <dgm:cxn modelId="{A1B5D55B-0B37-44B0-BB6C-62FE60DDF106}" srcId="{736472E0-9591-4933-95DE-56492793E8DB}" destId="{97E3F817-7FAE-46FB-B978-64DB095A7DEF}" srcOrd="1" destOrd="0" parTransId="{78AA35E2-5A27-4A4F-BC26-C64704551AD4}" sibTransId="{65E6C8AB-C787-45B7-B8E3-E51D71CF2C05}"/>
    <dgm:cxn modelId="{8CA6F387-2736-4F69-BEBE-46FBBF5665F0}" type="presOf" srcId="{53E8C463-DDE6-4A6E-A139-991DAE921C54}" destId="{798B224C-D8E9-45D9-AC57-FE5067BCC4DD}" srcOrd="0" destOrd="2" presId="urn:microsoft.com/office/officeart/2005/8/layout/hList1"/>
    <dgm:cxn modelId="{C9086CFA-327E-43B1-B868-811EC634973E}" type="presOf" srcId="{411C9F8A-7A9F-4EAF-A3F1-BB2125E79536}" destId="{E02FB674-53ED-45F4-95A4-4531CE5E9EFB}" srcOrd="0" destOrd="0" presId="urn:microsoft.com/office/officeart/2005/8/layout/hList1"/>
    <dgm:cxn modelId="{9D5E0B71-6142-4414-9720-E2A3A18B38DC}" type="presOf" srcId="{E46F3909-D577-421F-B4E6-CBD22005D794}" destId="{F3B79785-D9B5-49C3-AF26-69847370F375}" srcOrd="0" destOrd="0" presId="urn:microsoft.com/office/officeart/2005/8/layout/hList1"/>
    <dgm:cxn modelId="{EC1510DF-1EB8-43B8-A7CB-78C559335ECB}" srcId="{533B97F5-D091-4509-AFB1-767B450F258C}" destId="{9E047A65-3D48-403A-9621-3946C6DAE715}" srcOrd="0" destOrd="0" parTransId="{DF431CBE-9B2E-4B69-9016-DB7A700548A2}" sibTransId="{6E44EE31-C6C1-4358-A98D-2A283A8F8DEE}"/>
    <dgm:cxn modelId="{E94EF9DE-1A10-45B9-AD7D-3FF1F321D101}" type="presOf" srcId="{97882E03-3FAB-4436-A902-734DDB03901B}" destId="{F3B79785-D9B5-49C3-AF26-69847370F375}" srcOrd="0" destOrd="1" presId="urn:microsoft.com/office/officeart/2005/8/layout/hList1"/>
    <dgm:cxn modelId="{F0BBFD63-79D1-4838-B73E-E0C94DB30392}" type="presOf" srcId="{9E047A65-3D48-403A-9621-3946C6DAE715}" destId="{6885B3E4-8E06-4928-ACC4-0D93A7A46323}" srcOrd="0" destOrd="1" presId="urn:microsoft.com/office/officeart/2005/8/layout/hList1"/>
    <dgm:cxn modelId="{635A8C55-F3FC-4CDE-9F75-2CFD1BB90CFA}" type="presOf" srcId="{AE73C31B-7D4C-4718-A079-29373EB1B5E1}" destId="{F3B79785-D9B5-49C3-AF26-69847370F375}" srcOrd="0" destOrd="6" presId="urn:microsoft.com/office/officeart/2005/8/layout/hList1"/>
    <dgm:cxn modelId="{3CCC56D1-8EA0-4D30-9100-9F19F27BC448}" srcId="{E3597F85-97BA-4389-AF71-AB236A520E16}" destId="{736472E0-9591-4933-95DE-56492793E8DB}" srcOrd="1" destOrd="0" parTransId="{42DFF17B-EACD-4792-8ED2-F0FCD97A7461}" sibTransId="{647CDEF4-7DC5-4A10-9D13-9B4EE7A1F3BF}"/>
    <dgm:cxn modelId="{5BEE3C89-BD16-4016-9B2E-B4E963333864}" srcId="{AE73C31B-7D4C-4718-A079-29373EB1B5E1}" destId="{2C3DBC75-663E-4355-A94B-A9FDE1CB4A53}" srcOrd="0" destOrd="0" parTransId="{A86E3955-DB23-49D6-9A0A-D57CF9310799}" sibTransId="{A8AD6D73-2C5C-4EFE-B3B6-8AEE5D057815}"/>
    <dgm:cxn modelId="{74421D2B-7921-4281-9767-DD56F2503E8D}" type="presOf" srcId="{3E177EA3-885B-4E79-AD4D-04DD6F867CA1}" destId="{A9B6747D-EF8D-45D8-86FB-98D685D1A274}" srcOrd="0" destOrd="0" presId="urn:microsoft.com/office/officeart/2005/8/layout/hList1"/>
    <dgm:cxn modelId="{BDD0A2F3-42EC-4E92-80DA-E442C5D9F735}" type="presOf" srcId="{6460136C-FE41-4460-A3A5-7DBE0CAA4BB0}" destId="{798B224C-D8E9-45D9-AC57-FE5067BCC4DD}" srcOrd="0" destOrd="0" presId="urn:microsoft.com/office/officeart/2005/8/layout/hList1"/>
    <dgm:cxn modelId="{A7D6FC78-04BF-4CF0-953D-9A54AB4A8436}" type="presOf" srcId="{533B97F5-D091-4509-AFB1-767B450F258C}" destId="{6885B3E4-8E06-4928-ACC4-0D93A7A46323}" srcOrd="0" destOrd="0" presId="urn:microsoft.com/office/officeart/2005/8/layout/hList1"/>
    <dgm:cxn modelId="{FCC39B81-C9FC-458B-B9F3-59EE0EBAA76E}" srcId="{E3597F85-97BA-4389-AF71-AB236A520E16}" destId="{E46F3909-D577-421F-B4E6-CBD22005D794}" srcOrd="0" destOrd="0" parTransId="{6C1727E7-8F51-40C0-A2FB-64358EAA440C}" sibTransId="{43072880-AF84-4CF6-893B-CB2455BB7713}"/>
    <dgm:cxn modelId="{CBEF27E7-EDDE-4072-AC27-C6B19EA6E0AA}" srcId="{E2E7B6CA-1EFB-4E76-9242-4F4902D678B6}" destId="{3E177EA3-885B-4E79-AD4D-04DD6F867CA1}" srcOrd="1" destOrd="0" parTransId="{4540A7CA-8234-42F9-89A3-7EFC310BEC6A}" sibTransId="{D607C688-DA36-4704-9EB2-4CCDB683CC05}"/>
    <dgm:cxn modelId="{26E4868C-593D-4F8B-B615-2FC98B455C76}" srcId="{3E177EA3-885B-4E79-AD4D-04DD6F867CA1}" destId="{533B97F5-D091-4509-AFB1-767B450F258C}" srcOrd="0" destOrd="0" parTransId="{013C9AA5-63F8-4253-A88A-071AC26E2C5A}" sibTransId="{9DE4F57F-BBE1-4BC8-96E2-975FB8DD32B9}"/>
    <dgm:cxn modelId="{0E48D987-1D26-4742-A2F5-615D8AFEC9FC}" srcId="{411C9F8A-7A9F-4EAF-A3F1-BB2125E79536}" destId="{6460136C-FE41-4460-A3A5-7DBE0CAA4BB0}" srcOrd="0" destOrd="0" parTransId="{25005939-78B6-4450-BB03-0D4C41030A7C}" sibTransId="{6C67DFFC-4E09-48D9-B108-C28B3973A5F9}"/>
    <dgm:cxn modelId="{F7B83D18-1E99-4FA3-A7EF-445ABDDBBFD2}" type="presOf" srcId="{E3597F85-97BA-4389-AF71-AB236A520E16}" destId="{4C773822-966D-4294-A826-628AF708B67F}" srcOrd="0" destOrd="0" presId="urn:microsoft.com/office/officeart/2005/8/layout/hList1"/>
    <dgm:cxn modelId="{4667C61D-8A32-4414-BC6E-A66700F2D392}" srcId="{E3597F85-97BA-4389-AF71-AB236A520E16}" destId="{AE73C31B-7D4C-4718-A079-29373EB1B5E1}" srcOrd="2" destOrd="0" parTransId="{CC5AEDDC-AA71-46FD-890A-6D983F89284E}" sibTransId="{5C2976C2-75B0-4B59-9230-F5B36C7EB88F}"/>
    <dgm:cxn modelId="{08A7EAFC-F031-48A2-ADE6-0A54C2183042}" srcId="{E46F3909-D577-421F-B4E6-CBD22005D794}" destId="{97882E03-3FAB-4436-A902-734DDB03901B}" srcOrd="0" destOrd="0" parTransId="{70009587-C143-451E-9A37-411552A67BD3}" sibTransId="{48ADC5ED-9874-49AF-8C7C-75CE8CBAA0C4}"/>
    <dgm:cxn modelId="{74B3FA0D-084B-432B-9E4E-3C3D6B4757EE}" srcId="{E2E7B6CA-1EFB-4E76-9242-4F4902D678B6}" destId="{E3597F85-97BA-4389-AF71-AB236A520E16}" srcOrd="0" destOrd="0" parTransId="{6D58EAB3-5897-4197-930B-9753ADA07751}" sibTransId="{9630E597-F22D-48AB-A0A1-B5C51BD254EB}"/>
    <dgm:cxn modelId="{C0CAB044-C9A5-4009-9D8F-F40F73C8530D}" srcId="{E2E7B6CA-1EFB-4E76-9242-4F4902D678B6}" destId="{411C9F8A-7A9F-4EAF-A3F1-BB2125E79536}" srcOrd="2" destOrd="0" parTransId="{C871CDFC-8EC4-4566-B821-59F650CA3949}" sibTransId="{769FB1BC-952F-4A2A-962E-F71E44DCD7A0}"/>
    <dgm:cxn modelId="{F7580212-B11A-4732-9E48-23FDCFC63CBE}" srcId="{3E177EA3-885B-4E79-AD4D-04DD6F867CA1}" destId="{7400FAF4-8F09-4FE7-B3B0-5B67A6C56EAC}" srcOrd="2" destOrd="0" parTransId="{003983D6-5D85-4742-8327-250EE1744F2F}" sibTransId="{8BFB2783-54A8-418B-8445-FDFAE3823873}"/>
    <dgm:cxn modelId="{75E968FE-972D-4A58-9AC8-76E2B832C073}" type="presOf" srcId="{95F0E0AE-E93C-427D-BF53-F95833EF20B4}" destId="{F3B79785-D9B5-49C3-AF26-69847370F375}" srcOrd="0" destOrd="2" presId="urn:microsoft.com/office/officeart/2005/8/layout/hList1"/>
    <dgm:cxn modelId="{BEFFDBB5-F34C-48BC-A459-36FEA3DFB6AD}" type="presParOf" srcId="{8240684F-509A-4DF8-B68F-30F6406B35B3}" destId="{86D6B4A9-4BDF-4192-8634-763ED4E576B1}" srcOrd="0" destOrd="0" presId="urn:microsoft.com/office/officeart/2005/8/layout/hList1"/>
    <dgm:cxn modelId="{CBD130D8-A3DC-4DE9-94FE-1BE4332172F0}" type="presParOf" srcId="{86D6B4A9-4BDF-4192-8634-763ED4E576B1}" destId="{4C773822-966D-4294-A826-628AF708B67F}" srcOrd="0" destOrd="0" presId="urn:microsoft.com/office/officeart/2005/8/layout/hList1"/>
    <dgm:cxn modelId="{5416DDA2-8C64-444E-AC34-404AF75E08E5}" type="presParOf" srcId="{86D6B4A9-4BDF-4192-8634-763ED4E576B1}" destId="{F3B79785-D9B5-49C3-AF26-69847370F375}" srcOrd="1" destOrd="0" presId="urn:microsoft.com/office/officeart/2005/8/layout/hList1"/>
    <dgm:cxn modelId="{1C387093-E527-4640-91C1-9C02CCEFF6C5}" type="presParOf" srcId="{8240684F-509A-4DF8-B68F-30F6406B35B3}" destId="{4575EAAB-9545-4FCE-A495-67A990112219}" srcOrd="1" destOrd="0" presId="urn:microsoft.com/office/officeart/2005/8/layout/hList1"/>
    <dgm:cxn modelId="{0F33D6E2-5748-4F72-8874-ECE75BA95F21}" type="presParOf" srcId="{8240684F-509A-4DF8-B68F-30F6406B35B3}" destId="{9CEEB19B-AEE8-4385-AF0E-EC44AAA85AFB}" srcOrd="2" destOrd="0" presId="urn:microsoft.com/office/officeart/2005/8/layout/hList1"/>
    <dgm:cxn modelId="{D510D45A-692A-416A-BB01-0AF5BA51E8DD}" type="presParOf" srcId="{9CEEB19B-AEE8-4385-AF0E-EC44AAA85AFB}" destId="{A9B6747D-EF8D-45D8-86FB-98D685D1A274}" srcOrd="0" destOrd="0" presId="urn:microsoft.com/office/officeart/2005/8/layout/hList1"/>
    <dgm:cxn modelId="{C1576AC5-51F2-4AFE-9DC2-3F4736180C82}" type="presParOf" srcId="{9CEEB19B-AEE8-4385-AF0E-EC44AAA85AFB}" destId="{6885B3E4-8E06-4928-ACC4-0D93A7A46323}" srcOrd="1" destOrd="0" presId="urn:microsoft.com/office/officeart/2005/8/layout/hList1"/>
    <dgm:cxn modelId="{B547B91B-6A66-4348-AC41-09CE98D21B89}" type="presParOf" srcId="{8240684F-509A-4DF8-B68F-30F6406B35B3}" destId="{A922645F-F9FE-4919-96BA-858405316C0C}" srcOrd="3" destOrd="0" presId="urn:microsoft.com/office/officeart/2005/8/layout/hList1"/>
    <dgm:cxn modelId="{FDA24A2D-8C85-4549-8A6F-09CF17B84FE2}" type="presParOf" srcId="{8240684F-509A-4DF8-B68F-30F6406B35B3}" destId="{1E52583B-C857-4BA1-AC0A-58566F281F1C}" srcOrd="4" destOrd="0" presId="urn:microsoft.com/office/officeart/2005/8/layout/hList1"/>
    <dgm:cxn modelId="{BE5D9BAC-C34E-4291-B044-8A43CC99C65E}" type="presParOf" srcId="{1E52583B-C857-4BA1-AC0A-58566F281F1C}" destId="{E02FB674-53ED-45F4-95A4-4531CE5E9EFB}" srcOrd="0" destOrd="0" presId="urn:microsoft.com/office/officeart/2005/8/layout/hList1"/>
    <dgm:cxn modelId="{E58887D7-C193-40E7-A894-37794377233A}" type="presParOf" srcId="{1E52583B-C857-4BA1-AC0A-58566F281F1C}" destId="{798B224C-D8E9-45D9-AC57-FE5067BCC4D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73822-966D-4294-A826-628AF708B67F}">
      <dsp:nvSpPr>
        <dsp:cNvPr id="0" name=""/>
        <dsp:cNvSpPr/>
      </dsp:nvSpPr>
      <dsp:spPr>
        <a:xfrm>
          <a:off x="3668" y="22852"/>
          <a:ext cx="3576944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/>
            <a:t>FEASIBILITY</a:t>
          </a:r>
        </a:p>
      </dsp:txBody>
      <dsp:txXfrm>
        <a:off x="3668" y="22852"/>
        <a:ext cx="3576944" cy="432000"/>
      </dsp:txXfrm>
    </dsp:sp>
    <dsp:sp modelId="{F3B79785-D9B5-49C3-AF26-69847370F375}">
      <dsp:nvSpPr>
        <dsp:cNvPr id="0" name=""/>
        <dsp:cNvSpPr/>
      </dsp:nvSpPr>
      <dsp:spPr>
        <a:xfrm>
          <a:off x="3668" y="454852"/>
          <a:ext cx="3576944" cy="44623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>
              <a:solidFill>
                <a:schemeClr val="tx2"/>
              </a:solidFill>
              <a:latin typeface="Berlin Sans FB" panose="020E0602020502020306" pitchFamily="34" charset="0"/>
            </a:rPr>
            <a:t>Technical</a:t>
          </a:r>
          <a:r>
            <a:rPr lang="en-US" sz="1500" kern="1200" dirty="0">
              <a:solidFill>
                <a:schemeClr val="tx2"/>
              </a:solidFill>
            </a:rPr>
            <a:t> </a:t>
          </a:r>
          <a:r>
            <a:rPr lang="en-US" sz="1500" kern="1200" dirty="0">
              <a:solidFill>
                <a:schemeClr val="tx2"/>
              </a:solidFill>
              <a:latin typeface="Berlin Sans FB" panose="020E0602020502020306" pitchFamily="34" charset="0"/>
            </a:rPr>
            <a:t>feasibility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Competency mapping- Framework to foster purposeful growth and bridging skill lacunae.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/>
            <a:t>Continuous capacity building loop - standard web-based learning with course enrollment , assessments and content dissemination.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solidFill>
                <a:schemeClr val="tx2"/>
              </a:solidFill>
            </a:rPr>
            <a:t>2</a:t>
          </a:r>
          <a:r>
            <a:rPr lang="en-US" sz="1500" kern="1200">
              <a:solidFill>
                <a:schemeClr val="tx2"/>
              </a:solidFill>
              <a:latin typeface="Berlin Sans FB" panose="020E0602020502020306" pitchFamily="34" charset="0"/>
            </a:rPr>
            <a:t>. Operational feasibility</a:t>
          </a:r>
          <a:endParaRPr lang="en-US" sz="1500" kern="1200" dirty="0">
            <a:solidFill>
              <a:schemeClr val="tx2"/>
            </a:solidFill>
            <a:latin typeface="Berlin Sans FB" panose="020E0602020502020306" pitchFamily="34" charset="0"/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Competency gap calculation to evaluate current proficiency against expected role standards.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/>
            <a:t>IMD capacity intelligence platform to identify learning needs and progression patterns with clarity.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solidFill>
                <a:schemeClr val="tx2"/>
              </a:solidFill>
              <a:latin typeface="Berlin Sans FB" panose="020E0602020502020306" pitchFamily="34" charset="0"/>
            </a:rPr>
            <a:t>3. Legal feasibility</a:t>
          </a:r>
          <a:endParaRPr lang="en-US" sz="1500" kern="1200" dirty="0">
            <a:solidFill>
              <a:schemeClr val="tx2"/>
            </a:solidFill>
            <a:latin typeface="Berlin Sans FB" panose="020E0602020502020306" pitchFamily="34" charset="0"/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/>
            <a:t>A secure role authentication for trainee, trainer, and admin</a:t>
          </a:r>
        </a:p>
      </dsp:txBody>
      <dsp:txXfrm>
        <a:off x="3668" y="454852"/>
        <a:ext cx="3576944" cy="4462340"/>
      </dsp:txXfrm>
    </dsp:sp>
    <dsp:sp modelId="{A9B6747D-EF8D-45D8-86FB-98D685D1A274}">
      <dsp:nvSpPr>
        <dsp:cNvPr id="0" name=""/>
        <dsp:cNvSpPr/>
      </dsp:nvSpPr>
      <dsp:spPr>
        <a:xfrm>
          <a:off x="4081385" y="22852"/>
          <a:ext cx="3576944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/>
            <a:t>VALIDITY</a:t>
          </a:r>
        </a:p>
      </dsp:txBody>
      <dsp:txXfrm>
        <a:off x="4081385" y="22852"/>
        <a:ext cx="3576944" cy="432000"/>
      </dsp:txXfrm>
    </dsp:sp>
    <dsp:sp modelId="{6885B3E4-8E06-4928-ACC4-0D93A7A46323}">
      <dsp:nvSpPr>
        <dsp:cNvPr id="0" name=""/>
        <dsp:cNvSpPr/>
      </dsp:nvSpPr>
      <dsp:spPr>
        <a:xfrm>
          <a:off x="4081385" y="454852"/>
          <a:ext cx="3576944" cy="44623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Domain relevance – </a:t>
          </a:r>
          <a:r>
            <a:rPr lang="en-US" sz="1500" kern="1200" dirty="0">
              <a:ea typeface="Segoe UI Black" panose="020B0A02040204020203" pitchFamily="34" charset="0"/>
            </a:rPr>
            <a:t>supporting competency development , structured learning pathways that centralized to institutional training ecosystem.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>
            <a:ea typeface="Segoe UI Black" panose="020B0A020402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2. Functional appropriateness – </a:t>
          </a:r>
          <a:r>
            <a:rPr lang="en-US" sz="1500" kern="1200">
              <a:ea typeface="Segoe UI Black" panose="020B0A02040204020203" pitchFamily="34" charset="0"/>
            </a:rPr>
            <a:t>a component to sustain the real-world utility of platform such as trainer led course delivery, trainee profiling.</a:t>
          </a:r>
          <a:endParaRPr lang="en-US" sz="1500" kern="1200" dirty="0">
            <a:ea typeface="Segoe UI Black" panose="020B0A020402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>
            <a:ea typeface="Segoe UI Black" panose="020B0A020402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3. Systematic coherence – </a:t>
          </a:r>
          <a:r>
            <a:rPr lang="en-US" sz="1500" kern="1200">
              <a:ea typeface="Segoe UI Black" panose="020B0A02040204020203" pitchFamily="34" charset="0"/>
            </a:rPr>
            <a:t>maintaining internal consistency by connecting user authentication, role-specific workflow into one integrated learning framework.</a:t>
          </a:r>
          <a:endParaRPr lang="en-US" sz="1500" kern="1200" dirty="0">
            <a:ea typeface="Segoe UI Black" panose="020B0A020402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>
            <a:ea typeface="Segoe UI Black" panose="020B0A020402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>
              <a:solidFill>
                <a:schemeClr val="tx2"/>
              </a:solidFill>
              <a:latin typeface="Berlin Sans FB" panose="020E0602020502020306" pitchFamily="34" charset="0"/>
              <a:ea typeface="Segoe UI Black" panose="020B0A02040204020203" pitchFamily="34" charset="0"/>
            </a:rPr>
            <a:t>4. Practical acceptability – </a:t>
          </a:r>
          <a:r>
            <a:rPr lang="en-US" sz="1500" kern="1200" dirty="0">
              <a:ea typeface="Segoe UI Black" panose="020B0A02040204020203" pitchFamily="34" charset="0"/>
            </a:rPr>
            <a:t>it addresses a genuine organizational need and demonstrate a functional prototype with measurable outcomes.</a:t>
          </a:r>
          <a:endParaRPr lang="en-US" sz="1500" kern="1200" dirty="0">
            <a:latin typeface="Berlin Sans FB" panose="020E0602020502020306" pitchFamily="34" charset="0"/>
            <a:ea typeface="Segoe UI Black" panose="020B0A02040204020203" pitchFamily="34" charset="0"/>
          </a:endParaRPr>
        </a:p>
      </dsp:txBody>
      <dsp:txXfrm>
        <a:off x="4081385" y="454852"/>
        <a:ext cx="3576944" cy="4462340"/>
      </dsp:txXfrm>
    </dsp:sp>
    <dsp:sp modelId="{E02FB674-53ED-45F4-95A4-4531CE5E9EFB}">
      <dsp:nvSpPr>
        <dsp:cNvPr id="0" name=""/>
        <dsp:cNvSpPr/>
      </dsp:nvSpPr>
      <dsp:spPr>
        <a:xfrm>
          <a:off x="8159102" y="22852"/>
          <a:ext cx="3576944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/>
            <a:t>CHALLENGES</a:t>
          </a:r>
        </a:p>
      </dsp:txBody>
      <dsp:txXfrm>
        <a:off x="8159102" y="22852"/>
        <a:ext cx="3576944" cy="432000"/>
      </dsp:txXfrm>
    </dsp:sp>
    <dsp:sp modelId="{798B224C-D8E9-45D9-AC57-FE5067BCC4DD}">
      <dsp:nvSpPr>
        <dsp:cNvPr id="0" name=""/>
        <dsp:cNvSpPr/>
      </dsp:nvSpPr>
      <dsp:spPr>
        <a:xfrm>
          <a:off x="8159102" y="454852"/>
          <a:ext cx="3576944" cy="44623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kern="1200" dirty="0">
              <a:solidFill>
                <a:schemeClr val="tx2">
                  <a:lumMod val="75000"/>
                </a:schemeClr>
              </a:solidFill>
            </a:rPr>
            <a:t>Designing a scalable learning- </a:t>
          </a:r>
          <a:r>
            <a:rPr lang="en-US" sz="1500" b="0" kern="1200" dirty="0">
              <a:solidFill>
                <a:schemeClr val="tx1"/>
              </a:solidFill>
            </a:rPr>
            <a:t>where</a:t>
          </a:r>
          <a:r>
            <a:rPr lang="en-US" sz="1500" b="1" kern="1200" dirty="0">
              <a:solidFill>
                <a:schemeClr val="tx2">
                  <a:lumMod val="75000"/>
                </a:schemeClr>
              </a:solidFill>
            </a:rPr>
            <a:t> </a:t>
          </a:r>
          <a:r>
            <a:rPr lang="en-US" sz="1500" b="0" kern="1200" dirty="0">
              <a:solidFill>
                <a:schemeClr val="tx1"/>
              </a:solidFill>
            </a:rPr>
            <a:t>management</a:t>
          </a:r>
          <a:r>
            <a:rPr lang="en-US" sz="1500" kern="1200" dirty="0"/>
            <a:t> workflow is capable of handling course enrollment, assessments, and feedback within a clean modular structure.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kern="1200" dirty="0">
              <a:solidFill>
                <a:schemeClr val="tx2">
                  <a:lumMod val="75000"/>
                </a:schemeClr>
              </a:solidFill>
            </a:rPr>
            <a:t>Building data-driven analytical modules -</a:t>
          </a:r>
          <a:r>
            <a:rPr lang="en-US" sz="1500" kern="1200" dirty="0"/>
            <a:t> it transform raw training activity into meaningful intelligence, enabling measurable tracking of competency gaps and progression trends.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kern="1200" dirty="0">
              <a:solidFill>
                <a:schemeClr val="tx2">
                  <a:lumMod val="75000"/>
                </a:schemeClr>
              </a:solidFill>
            </a:rPr>
            <a:t>Competency mapping – </a:t>
          </a:r>
          <a:r>
            <a:rPr lang="en-US" sz="1500" b="0" kern="1200" dirty="0">
              <a:solidFill>
                <a:schemeClr val="tx1"/>
              </a:solidFill>
            </a:rPr>
            <a:t>it’s used </a:t>
          </a:r>
          <a:r>
            <a:rPr lang="en-US" sz="1500" kern="1200" dirty="0"/>
            <a:t>as an intelligent discovery layer that matches subject requirements or performance dashboard with the most suitable trainer, from the trainer profile.</a:t>
          </a:r>
        </a:p>
      </dsp:txBody>
      <dsp:txXfrm>
        <a:off x="8159102" y="454852"/>
        <a:ext cx="3576944" cy="4462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57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20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49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dpune.gov.in/training/results.html" TargetMode="External"/><Relationship Id="rId13" Type="http://schemas.openxmlformats.org/officeDocument/2006/relationships/hyperlink" Target="https://help.sap.com/docs/successfactors-learning" TargetMode="External"/><Relationship Id="rId3" Type="http://schemas.openxmlformats.org/officeDocument/2006/relationships/hyperlink" Target="https://imdpune.gov.in/training/academics.php" TargetMode="External"/><Relationship Id="rId7" Type="http://schemas.openxmlformats.org/officeDocument/2006/relationships/hyperlink" Target="https://imdpune.gov.in/training/Question.html" TargetMode="External"/><Relationship Id="rId12" Type="http://schemas.openxmlformats.org/officeDocument/2006/relationships/hyperlink" Target="https://moodle.com/solutions/lms/featur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mdpune.gov.in/training/lectureftc.php" TargetMode="External"/><Relationship Id="rId11" Type="http://schemas.openxmlformats.org/officeDocument/2006/relationships/hyperlink" Target="https://www.moes.gov.in/index.php/mission-mausam" TargetMode="External"/><Relationship Id="rId5" Type="http://schemas.openxmlformats.org/officeDocument/2006/relationships/hyperlink" Target="https://imdpune.gov.in/training/notes.html" TargetMode="External"/><Relationship Id="rId10" Type="http://schemas.openxmlformats.org/officeDocument/2006/relationships/hyperlink" Target="https://internal.imd.gov.in/press_release/20250114_pr_3552.pdf" TargetMode="External"/><Relationship Id="rId4" Type="http://schemas.openxmlformats.org/officeDocument/2006/relationships/hyperlink" Target="https://www.imdpune.gov.in/training/academics/disciplines.html" TargetMode="External"/><Relationship Id="rId9" Type="http://schemas.openxmlformats.org/officeDocument/2006/relationships/hyperlink" Target="https://imdpune.gov.in/training/about/introduction.html" TargetMode="External"/><Relationship Id="rId1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r="59916"/>
          <a:stretch/>
        </p:blipFill>
        <p:spPr>
          <a:xfrm>
            <a:off x="6854891" y="2039909"/>
            <a:ext cx="3203509" cy="342623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408783" y="435537"/>
            <a:ext cx="4208206" cy="785741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300" y="1417265"/>
            <a:ext cx="11852186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26075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CAPACITY CONNECT a digital capacity building and  learning management portal  to support organizational training, competency development and knowledge sharing through a centralized web-based platform.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1" u="sng" dirty="0">
                <a:latin typeface="Arial Black" panose="020B0A04020102020204" pitchFamily="34" charset="0"/>
                <a:cs typeface="Arial" panose="020B0604020202020204" pitchFamily="34" charset="0"/>
              </a:rPr>
              <a:t>CodeCrafterz</a:t>
            </a:r>
            <a:endParaRPr lang="en-IN" sz="2000" b="1" u="sng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901" y="118865"/>
            <a:ext cx="2192258" cy="110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8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3082" y="-263348"/>
            <a:ext cx="4385187" cy="71742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655913"/>
            <a:ext cx="12329653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rial Rounded MT Bold" panose="020F0704030504030204" pitchFamily="34" charset="0"/>
                <a:cs typeface="Arial" pitchFamily="34" charset="0"/>
              </a:rPr>
              <a:t>                                    </a:t>
            </a:r>
            <a:r>
              <a:rPr lang="en-US" sz="3200" b="1" u="sng" dirty="0">
                <a:solidFill>
                  <a:schemeClr val="tx2"/>
                </a:solidFill>
                <a:latin typeface="Arial Rounded MT Bold" panose="020F0704030504030204" pitchFamily="34" charset="0"/>
                <a:cs typeface="Arial" pitchFamily="34" charset="0"/>
              </a:rPr>
              <a:t>Proposed Solution</a:t>
            </a:r>
            <a:endParaRPr lang="en-US" sz="2000" dirty="0">
              <a:solidFill>
                <a:schemeClr val="tx2"/>
              </a:solidFill>
              <a:latin typeface="Arial Rounded MT Bold" panose="020F0704030504030204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Gill Sans MT" panose="020B0502020104020203" pitchFamily="34" charset="0"/>
                <a:cs typeface="Arial" pitchFamily="34" charset="0"/>
              </a:rPr>
              <a:t>Our solution is unified, organization-specific digital ecosystem that connects trainee profiles, trainers, course, learning resources, assessments, certifications, performance analytics and competency mapping so that training becomes measureable, discoverable and competency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145434"/>
            <a:ext cx="13220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</a:t>
            </a:r>
          </a:p>
          <a:p>
            <a:pPr algn="ctr"/>
            <a:r>
              <a:rPr lang="en-IN" b="1" dirty="0"/>
              <a:t>Craftez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735" y="1917290"/>
            <a:ext cx="6889263" cy="494070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971" y="2084803"/>
            <a:ext cx="5274764" cy="462776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688" y="83767"/>
            <a:ext cx="1964944" cy="99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120208"/>
            <a:ext cx="13318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</a:t>
            </a:r>
            <a:br>
              <a:rPr lang="en-US" b="1" dirty="0"/>
            </a:br>
            <a:r>
              <a:rPr lang="en-IN" b="1" dirty="0"/>
              <a:t>C</a:t>
            </a:r>
            <a:r>
              <a:rPr lang="en-US" b="1" dirty="0"/>
              <a:t>rafterz</a:t>
            </a:r>
            <a:endParaRPr lang="en-IN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63208"/>
            <a:ext cx="12192001" cy="48407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054" y="120208"/>
            <a:ext cx="1928902" cy="97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79406" y="120208"/>
            <a:ext cx="7157884" cy="807334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7656518"/>
            <a:ext cx="149942" cy="4571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120208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</a:t>
            </a:r>
            <a:r>
              <a:rPr lang="en-IN" b="1" dirty="0"/>
              <a:t>Cr</a:t>
            </a:r>
            <a:r>
              <a:rPr lang="en-US" b="1" dirty="0"/>
              <a:t>afterz</a:t>
            </a:r>
            <a:endParaRPr lang="en-IN" b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3E00635-398D-D9F6-CC25-44B59FF0E9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2158169"/>
              </p:ext>
            </p:extLst>
          </p:nvPr>
        </p:nvGraphicFramePr>
        <p:xfrm>
          <a:off x="216310" y="1278194"/>
          <a:ext cx="11739716" cy="4940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120208"/>
            <a:ext cx="17145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135" y="288041"/>
            <a:ext cx="5404466" cy="56736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15147" y="206477"/>
            <a:ext cx="5820697" cy="88889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65978" y="247259"/>
            <a:ext cx="13431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</a:t>
            </a:r>
            <a:r>
              <a:rPr lang="en-IN" b="1" dirty="0"/>
              <a:t>C</a:t>
            </a:r>
            <a:r>
              <a:rPr lang="en-US" b="1" dirty="0"/>
              <a:t>rafterz</a:t>
            </a:r>
            <a:endParaRPr lang="en-IN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0A9CB8-944A-9D2B-A9DF-DBC3D9E61234}"/>
              </a:ext>
            </a:extLst>
          </p:cNvPr>
          <p:cNvSpPr/>
          <p:nvPr/>
        </p:nvSpPr>
        <p:spPr>
          <a:xfrm>
            <a:off x="747250" y="1327354"/>
            <a:ext cx="4935794" cy="502899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  <a:latin typeface="Berlin Sans FB Demi" panose="020E0802020502020306" pitchFamily="34" charset="0"/>
              </a:rPr>
              <a:t>Benefits</a:t>
            </a:r>
            <a:r>
              <a:rPr lang="en-US" sz="2000" i="1" dirty="0">
                <a:solidFill>
                  <a:schemeClr val="tx2"/>
                </a:solidFill>
                <a:latin typeface="Berlin Sans FB Demi" panose="020E0802020502020306" pitchFamily="34" charset="0"/>
              </a:rPr>
              <a:t>:</a:t>
            </a:r>
          </a:p>
          <a:p>
            <a:endParaRPr lang="en-US" sz="2000" i="1" dirty="0">
              <a:latin typeface="Berlin Sans FB Demi" panose="020E0802020502020306" pitchFamily="34" charset="0"/>
            </a:endParaRPr>
          </a:p>
          <a:p>
            <a:pPr marL="342900" indent="-342900">
              <a:buAutoNum type="arabicPeriod"/>
            </a:pPr>
            <a:r>
              <a:rPr lang="en-US" b="1" u="sng" dirty="0">
                <a:solidFill>
                  <a:schemeClr val="bg1"/>
                </a:solidFill>
              </a:rPr>
              <a:t>Cohesive hybrid architecture</a:t>
            </a:r>
            <a:r>
              <a:rPr lang="en-US" u="sng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a platform where training resources, assessments, and administrative oversight converges into </a:t>
            </a:r>
            <a:r>
              <a:rPr lang="en-US" dirty="0"/>
              <a:t>a single ecosystem.</a:t>
            </a:r>
          </a:p>
          <a:p>
            <a:pPr marL="342900" indent="-342900">
              <a:buAutoNum type="arabicPeriod"/>
            </a:pPr>
            <a:r>
              <a:rPr lang="en-US" dirty="0"/>
              <a:t>Enabling more granular understanding of skill distribution through </a:t>
            </a:r>
            <a:r>
              <a:rPr lang="en-US" b="1" u="sng" dirty="0">
                <a:solidFill>
                  <a:schemeClr val="bg1"/>
                </a:solidFill>
              </a:rPr>
              <a:t>competency mapping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/>
              <a:t>By </a:t>
            </a:r>
            <a:r>
              <a:rPr lang="en-US" b="1" u="sng" dirty="0">
                <a:solidFill>
                  <a:schemeClr val="bg1"/>
                </a:solidFill>
              </a:rPr>
              <a:t>digitizing training delivery and knowledge dissemination</a:t>
            </a:r>
            <a:r>
              <a:rPr lang="en-US" dirty="0"/>
              <a:t>, it offers a scalable and adaptable framework to support professional development.</a:t>
            </a:r>
          </a:p>
          <a:p>
            <a:pPr marL="342900" indent="-342900">
              <a:buAutoNum type="arabicPeriod"/>
            </a:pPr>
            <a:r>
              <a:rPr lang="en-US" dirty="0"/>
              <a:t>A </a:t>
            </a:r>
            <a:r>
              <a:rPr lang="en-US" b="1" u="sng" dirty="0">
                <a:solidFill>
                  <a:schemeClr val="bg1"/>
                </a:solidFill>
              </a:rPr>
              <a:t>structured workflow </a:t>
            </a:r>
            <a:r>
              <a:rPr lang="en-US" dirty="0"/>
              <a:t>to promote clarity , consistency, and accountability across individual roles.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39F2E6-F835-D564-7F1D-2B3114625B9B}"/>
              </a:ext>
            </a:extLst>
          </p:cNvPr>
          <p:cNvSpPr/>
          <p:nvPr/>
        </p:nvSpPr>
        <p:spPr>
          <a:xfrm>
            <a:off x="6410631" y="1327354"/>
            <a:ext cx="5250426" cy="502899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2"/>
                </a:solidFill>
                <a:latin typeface="Berlin Sans FB Demi" panose="020E0802020502020306" pitchFamily="34" charset="0"/>
              </a:rPr>
              <a:t>Impacts</a:t>
            </a:r>
            <a:r>
              <a:rPr lang="en-US" sz="2000" dirty="0">
                <a:solidFill>
                  <a:schemeClr val="tx2"/>
                </a:solidFill>
                <a:latin typeface="Berlin Sans FB Demi" panose="020E0802020502020306" pitchFamily="34" charset="0"/>
              </a:rPr>
              <a:t>:</a:t>
            </a:r>
          </a:p>
          <a:p>
            <a:endParaRPr lang="en-US" sz="2000" dirty="0">
              <a:latin typeface="Berlin Sans FB Demi" panose="020E0802020502020306" pitchFamily="34" charset="0"/>
            </a:endParaRPr>
          </a:p>
          <a:p>
            <a:pPr marL="342900" indent="-342900">
              <a:buAutoNum type="arabicPeriod"/>
            </a:pPr>
            <a:r>
              <a:rPr lang="en-US" dirty="0"/>
              <a:t>It improves </a:t>
            </a:r>
            <a:r>
              <a:rPr lang="en-US" b="1" u="sng" dirty="0">
                <a:solidFill>
                  <a:schemeClr val="bg1"/>
                </a:solidFill>
              </a:rPr>
              <a:t>decision-making fidelity </a:t>
            </a:r>
            <a:r>
              <a:rPr lang="en-US" dirty="0"/>
              <a:t>for       trainers and administrators by converting raw  learner data into more strategic planning of course.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Cultivating sustainable learning culture</a:t>
            </a:r>
            <a:r>
              <a:rPr lang="en-US" dirty="0"/>
              <a:t>, that moves beyond one- time training events towards continuous skill enrichment.</a:t>
            </a:r>
          </a:p>
          <a:p>
            <a:pPr marL="342900" indent="-342900">
              <a:buAutoNum type="arabicPeriod"/>
            </a:pPr>
            <a:r>
              <a:rPr lang="en-US" dirty="0"/>
              <a:t>It can create a </a:t>
            </a:r>
            <a:r>
              <a:rPr lang="en-US" b="1" u="sng" dirty="0">
                <a:solidFill>
                  <a:schemeClr val="bg1"/>
                </a:solidFill>
              </a:rPr>
              <a:t>transformative shift in      workforce </a:t>
            </a:r>
            <a:r>
              <a:rPr lang="en-US" dirty="0"/>
              <a:t>with measurable competency outcomes.</a:t>
            </a:r>
          </a:p>
          <a:p>
            <a:pPr marL="342900" indent="-342900">
              <a:buAutoNum type="arabicPeriod"/>
            </a:pPr>
            <a:r>
              <a:rPr lang="en-US" dirty="0"/>
              <a:t>The platform can evolve in a </a:t>
            </a:r>
            <a:r>
              <a:rPr lang="en-US" b="1" u="sng" dirty="0">
                <a:solidFill>
                  <a:schemeClr val="bg1"/>
                </a:solidFill>
              </a:rPr>
              <a:t>capacity    intelligence infrastructure </a:t>
            </a:r>
            <a:r>
              <a:rPr lang="en-US" dirty="0"/>
              <a:t>in which analytics and learning histories collectively inform institutional growth.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899" y="95454"/>
            <a:ext cx="1793157" cy="90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21897" y="57097"/>
            <a:ext cx="7561006" cy="103827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4856541" y="5230761"/>
            <a:ext cx="136993" cy="137651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7590" y="214864"/>
            <a:ext cx="13220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Code </a:t>
            </a:r>
            <a:r>
              <a:rPr lang="en-IN" b="1" dirty="0"/>
              <a:t>C</a:t>
            </a:r>
            <a:r>
              <a:rPr lang="en-US" b="1" dirty="0"/>
              <a:t>rafterz</a:t>
            </a:r>
            <a:endParaRPr lang="en-IN" b="1" dirty="0"/>
          </a:p>
        </p:txBody>
      </p:sp>
      <p:sp>
        <p:nvSpPr>
          <p:cNvPr id="2" name="Rectangle 1"/>
          <p:cNvSpPr/>
          <p:nvPr/>
        </p:nvSpPr>
        <p:spPr>
          <a:xfrm>
            <a:off x="559742" y="1477808"/>
            <a:ext cx="5342658" cy="50783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•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IMD Meteorological Training Institute — Academics: </a:t>
            </a:r>
            <a:r>
              <a:rPr lang="en-IN" dirty="0">
                <a:hlinkClick r:id="rId3"/>
              </a:rPr>
              <a:t>https://imdpune.gov.in/training/academics.php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•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IMD Training Disciplines: </a:t>
            </a:r>
            <a:r>
              <a:rPr lang="en-IN" dirty="0">
                <a:hlinkClick r:id="rId4"/>
              </a:rPr>
              <a:t>https://www.imdpune.gov.in/training/academics/disciplines.html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•IMD Lecture Notes: </a:t>
            </a:r>
            <a:r>
              <a:rPr lang="en-IN" dirty="0">
                <a:hlinkClick r:id="rId5"/>
              </a:rPr>
              <a:t>https://imdpune.gov.in/training/notes.html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•IMD Forecasters Training Course Lecture Resources: </a:t>
            </a:r>
            <a:r>
              <a:rPr lang="en-IN" dirty="0">
                <a:hlinkClick r:id="rId6"/>
              </a:rPr>
              <a:t>https://www.imdpune.gov.in/training/lectureftc.php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•IMD Question Bank: </a:t>
            </a:r>
            <a:r>
              <a:rPr lang="en-IN" dirty="0">
                <a:hlinkClick r:id="rId7"/>
              </a:rPr>
              <a:t>https://imdpune.gov.in/training/Question.html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•IMD Training Results: </a:t>
            </a:r>
            <a:r>
              <a:rPr lang="en-IN" dirty="0">
                <a:hlinkClick r:id="rId8"/>
              </a:rPr>
              <a:t>https://www.imdpune.gov.in/training/results.html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239742" y="1477807"/>
            <a:ext cx="5637625" cy="50783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•IMD training history/about: </a:t>
            </a:r>
            <a:r>
              <a:rPr lang="en-IN" dirty="0">
                <a:hlinkClick r:id="rId9"/>
              </a:rPr>
              <a:t>https://imdpune.gov.in/training/about/introduction.html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•IMD published training/capacity-building vision document:</a:t>
            </a:r>
          </a:p>
          <a:p>
            <a:r>
              <a:rPr lang="en-IN" dirty="0">
                <a:hlinkClick r:id="rId10"/>
              </a:rPr>
              <a:t>https://internal.imd.gov.in/press_release/20250114_pr_3552.pdf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•Mission Mausam — Ministry of Earth Sciences: </a:t>
            </a:r>
            <a:r>
              <a:rPr lang="en-IN" dirty="0">
                <a:hlinkClick r:id="rId11"/>
              </a:rPr>
              <a:t>https://www.moes.gov.in/index.php/mission-mausam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•Moodle LMS: </a:t>
            </a:r>
            <a:r>
              <a:rPr lang="en-IN" dirty="0">
                <a:hlinkClick r:id="rId12"/>
              </a:rPr>
              <a:t>https://moodle.com/solutions/lms/features/</a:t>
            </a:r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•SAP SuccessFactors Learning: </a:t>
            </a:r>
            <a:r>
              <a:rPr lang="en-IN" dirty="0">
                <a:hlinkClick r:id="rId13"/>
              </a:rPr>
              <a:t>https://help.sap.com/docs/successfactors-learning</a:t>
            </a:r>
            <a:endParaRPr lang="en-IN" dirty="0"/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•</a:t>
            </a:r>
            <a:r>
              <a:rPr lang="en-IN" b="1" dirty="0" err="1">
                <a:solidFill>
                  <a:schemeClr val="tx2">
                    <a:lumMod val="75000"/>
                  </a:schemeClr>
                </a:solidFill>
              </a:rPr>
              <a:t>Karmayogi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Competency Model:</a:t>
            </a: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164" y="155423"/>
            <a:ext cx="1859246" cy="93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9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7792</TotalTime>
  <Words>571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ＭＳ Ｐゴシック</vt:lpstr>
      <vt:lpstr>Arial</vt:lpstr>
      <vt:lpstr>Arial Black</vt:lpstr>
      <vt:lpstr>Arial Rounded MT Bold</vt:lpstr>
      <vt:lpstr>Berlin Sans FB</vt:lpstr>
      <vt:lpstr>Berlin Sans FB Demi</vt:lpstr>
      <vt:lpstr>Calibri</vt:lpstr>
      <vt:lpstr>Ebrima</vt:lpstr>
      <vt:lpstr>Garamond</vt:lpstr>
      <vt:lpstr>Gill Sans MT</vt:lpstr>
      <vt:lpstr>Segoe UI Black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161</cp:revision>
  <dcterms:created xsi:type="dcterms:W3CDTF">2013-12-12T18:46:50Z</dcterms:created>
  <dcterms:modified xsi:type="dcterms:W3CDTF">2026-09-10T07:06:17Z</dcterms:modified>
  <cp:category/>
</cp:coreProperties>
</file>